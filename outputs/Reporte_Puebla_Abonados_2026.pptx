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CF1F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AP23 + CL24</c:v>
                  </c:pt>
                  <c:pt idx="1">
                    <c:v>AP24 + CL25</c:v>
                  </c:pt>
                  <c:pt idx="2">
                    <c:v>AP25 + CL26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10547455</c:v>
                </c:pt>
                <c:pt idx="1">
                  <c:v>8857500</c:v>
                </c:pt>
                <c:pt idx="2">
                  <c:v>7650760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CF1F5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Anuales pagados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AP23 + CL24</c:v>
                  </c:pt>
                  <c:pt idx="1">
                    <c:v>AP24 + CL25</c:v>
                  </c:pt>
                  <c:pt idx="2">
                    <c:v>AP25 + CL26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Semestrales pagados</c:v>
                </c:pt>
              </c:strCache>
            </c:strRef>
          </c:tx>
          <c:spPr>
            <a:solidFill>
              <a:srgbClr val="4A5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AP23 + CL24</c:v>
                  </c:pt>
                  <c:pt idx="1">
                    <c:v>AP24 + CL25</c:v>
                  </c:pt>
                  <c:pt idx="2">
                    <c:v>AP25 + CL26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5669</c:v>
                </c:pt>
                <c:pt idx="1">
                  <c:v>5335</c:v>
                </c:pt>
                <c:pt idx="2">
                  <c:v>1528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Cortesías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AP23 + CL24</c:v>
                  </c:pt>
                  <c:pt idx="1">
                    <c:v>AP24 + CL25</c:v>
                  </c:pt>
                  <c:pt idx="2">
                    <c:v>AP25 + CL26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2280</c:v>
                </c:pt>
                <c:pt idx="1">
                  <c:v>1072</c:v>
                </c:pt>
                <c:pt idx="2">
                  <c:v>2853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AA5B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Anual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AP23</c:v>
                  </c:pt>
                  <c:pt idx="1">
                    <c:v>CL24</c:v>
                  </c:pt>
                  <c:pt idx="2">
                    <c:v>AP24</c:v>
                  </c:pt>
                  <c:pt idx="3">
                    <c:v>CL25</c:v>
                  </c:pt>
                  <c:pt idx="4">
                    <c:v>AP25</c:v>
                  </c:pt>
                  <c:pt idx="5">
                    <c:v>CL26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34.7</c:v>
                </c:pt>
                <c:pt idx="5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Semestral</c:v>
                </c:pt>
              </c:strCache>
            </c:strRef>
          </c:tx>
          <c:spPr>
            <a:solidFill>
              <a:srgbClr val="4A556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AP23</c:v>
                  </c:pt>
                  <c:pt idx="1">
                    <c:v>CL24</c:v>
                  </c:pt>
                  <c:pt idx="2">
                    <c:v>AP24</c:v>
                  </c:pt>
                  <c:pt idx="3">
                    <c:v>CL25</c:v>
                  </c:pt>
                  <c:pt idx="4">
                    <c:v>AP25</c:v>
                  </c:pt>
                  <c:pt idx="5">
                    <c:v>CL26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71.6</c:v>
                </c:pt>
                <c:pt idx="1">
                  <c:v>71</c:v>
                </c:pt>
                <c:pt idx="2">
                  <c:v>72.2</c:v>
                </c:pt>
                <c:pt idx="3">
                  <c:v>94.2</c:v>
                </c:pt>
                <c:pt idx="4">
                  <c:v>14.1</c:v>
                </c:pt>
                <c:pt idx="5">
                  <c:v>99.9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Cortesía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AP23</c:v>
                  </c:pt>
                  <c:pt idx="1">
                    <c:v>CL24</c:v>
                  </c:pt>
                  <c:pt idx="2">
                    <c:v>AP24</c:v>
                  </c:pt>
                  <c:pt idx="3">
                    <c:v>CL25</c:v>
                  </c:pt>
                  <c:pt idx="4">
                    <c:v>AP25</c:v>
                  </c:pt>
                  <c:pt idx="5">
                    <c:v>CL26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28.4</c:v>
                </c:pt>
                <c:pt idx="1">
                  <c:v>29</c:v>
                </c:pt>
                <c:pt idx="2">
                  <c:v>27.8</c:v>
                </c:pt>
                <c:pt idx="3">
                  <c:v>5.8</c:v>
                </c:pt>
                <c:pt idx="4">
                  <c:v>51.2</c:v>
                </c:pt>
                <c:pt idx="5">
                  <c:v>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F1F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AA5B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AP23 + CL24</c:v>
                </c:pt>
              </c:strCache>
            </c:strRef>
          </c:tx>
          <c:spPr>
            <a:solidFill>
              <a:srgbClr val="4A5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Franjabono regular</c:v>
                  </c:pt>
                  <c:pt idx="1">
                    <c:v>Renovación</c:v>
                  </c:pt>
                  <c:pt idx="2">
                    <c:v>Ex-abonado</c:v>
                  </c:pt>
                  <c:pt idx="3">
                    <c:v>Nuevo abonado</c:v>
                  </c:pt>
                  <c:pt idx="4">
                    <c:v>Kids</c:v>
                  </c:pt>
                  <c:pt idx="5">
                    <c:v>Socio Puebla</c:v>
                  </c:pt>
                  <c:pt idx="6">
                    <c:v>Universitarios</c:v>
                  </c:pt>
                  <c:pt idx="7">
                    <c:v>Referidos</c:v>
                  </c:pt>
                  <c:pt idx="8">
                    <c:v>Cortesía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5674770</c:v>
                </c:pt>
                <c:pt idx="1">
                  <c:v>3326500</c:v>
                </c:pt>
                <c:pt idx="2">
                  <c:v>1078750</c:v>
                </c:pt>
                <c:pt idx="3">
                  <c:v>467435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AP24 + CL25</c:v>
                </c:pt>
              </c:strCache>
            </c:strRef>
          </c:tx>
          <c:spPr>
            <a:solidFill>
              <a:srgbClr val="7B8A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Franjabono regular</c:v>
                  </c:pt>
                  <c:pt idx="1">
                    <c:v>Renovación</c:v>
                  </c:pt>
                  <c:pt idx="2">
                    <c:v>Ex-abonado</c:v>
                  </c:pt>
                  <c:pt idx="3">
                    <c:v>Nuevo abonado</c:v>
                  </c:pt>
                  <c:pt idx="4">
                    <c:v>Kids</c:v>
                  </c:pt>
                  <c:pt idx="5">
                    <c:v>Socio Puebla</c:v>
                  </c:pt>
                  <c:pt idx="6">
                    <c:v>Universitarios</c:v>
                  </c:pt>
                  <c:pt idx="7">
                    <c:v>Referidos</c:v>
                  </c:pt>
                  <c:pt idx="8">
                    <c:v>Cortesía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8857500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AP25 + CL26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Franjabono regular</c:v>
                  </c:pt>
                  <c:pt idx="1">
                    <c:v>Renovación</c:v>
                  </c:pt>
                  <c:pt idx="2">
                    <c:v>Ex-abonado</c:v>
                  </c:pt>
                  <c:pt idx="3">
                    <c:v>Nuevo abonado</c:v>
                  </c:pt>
                  <c:pt idx="4">
                    <c:v>Kids</c:v>
                  </c:pt>
                  <c:pt idx="5">
                    <c:v>Socio Puebla</c:v>
                  </c:pt>
                  <c:pt idx="6">
                    <c:v>Universitarios</c:v>
                  </c:pt>
                  <c:pt idx="7">
                    <c:v>Referidos</c:v>
                  </c:pt>
                  <c:pt idx="8">
                    <c:v>Cortesía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7293035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206780</c:v>
                </c:pt>
                <c:pt idx="5">
                  <c:v>102897</c:v>
                </c:pt>
                <c:pt idx="6">
                  <c:v>31968</c:v>
                </c:pt>
                <c:pt idx="7">
                  <c:v>16080</c:v>
                </c:pt>
                <c:pt idx="8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0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AA5B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AP23 + CL24</c:v>
                </c:pt>
              </c:strCache>
            </c:strRef>
          </c:tx>
          <c:spPr>
            <a:solidFill>
              <a:srgbClr val="4A5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CF1F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PLATEA PLUS</c:v>
                  </c:pt>
                  <c:pt idx="4">
                    <c:v>CABECERA NORTE</c:v>
                  </c:pt>
                  <c:pt idx="5">
                    <c:v>RAMPA ORIENTE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2853</c:v>
                </c:pt>
                <c:pt idx="1">
                  <c:v>1073</c:v>
                </c:pt>
                <c:pt idx="2">
                  <c:v>1419</c:v>
                </c:pt>
                <c:pt idx="3">
                  <c:v>1012</c:v>
                </c:pt>
                <c:pt idx="4">
                  <c:v>994</c:v>
                </c:pt>
                <c:pt idx="5">
                  <c:v>598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AP24 + CL25</c:v>
                </c:pt>
              </c:strCache>
            </c:strRef>
          </c:tx>
          <c:spPr>
            <a:solidFill>
              <a:srgbClr val="7B8A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CF1F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PLATEA PLUS</c:v>
                  </c:pt>
                  <c:pt idx="4">
                    <c:v>CABECERA NORTE</c:v>
                  </c:pt>
                  <c:pt idx="5">
                    <c:v>RAMPA ORIENTE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2917</c:v>
                </c:pt>
                <c:pt idx="1">
                  <c:v>1468</c:v>
                </c:pt>
                <c:pt idx="2">
                  <c:v>855</c:v>
                </c:pt>
                <c:pt idx="3">
                  <c:v>522</c:v>
                </c:pt>
                <c:pt idx="4">
                  <c:v>474</c:v>
                </c:pt>
                <c:pt idx="5">
                  <c:v>171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AP25 + CL26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CF1F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PLATEA PLUS</c:v>
                  </c:pt>
                  <c:pt idx="4">
                    <c:v>CABECERA NORTE</c:v>
                  </c:pt>
                  <c:pt idx="5">
                    <c:v>RAMPA ORIENTE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1916</c:v>
                </c:pt>
                <c:pt idx="1">
                  <c:v>1074</c:v>
                </c:pt>
                <c:pt idx="2">
                  <c:v>1050</c:v>
                </c:pt>
                <c:pt idx="3">
                  <c:v>1527</c:v>
                </c:pt>
                <c:pt idx="4">
                  <c:v>715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CF1F5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CF1F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AA5B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AP23 + CL24</c:v>
                </c:pt>
              </c:strCache>
            </c:strRef>
          </c:tx>
          <c:spPr>
            <a:solidFill>
              <a:srgbClr val="4A5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CABECERA NORTE</c:v>
                  </c:pt>
                  <c:pt idx="4">
                    <c:v>RAMPA ORIENTE</c:v>
                  </c:pt>
                  <c:pt idx="5">
                    <c:v>PLATEA PLUS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4173610</c:v>
                </c:pt>
                <c:pt idx="1">
                  <c:v>2498045</c:v>
                </c:pt>
                <c:pt idx="2">
                  <c:v>2790230</c:v>
                </c:pt>
                <c:pt idx="3">
                  <c:v>499665</c:v>
                </c:pt>
                <c:pt idx="4">
                  <c:v>585905</c:v>
                </c:pt>
                <c:pt idx="5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AP24 + CL25</c:v>
                </c:pt>
              </c:strCache>
            </c:strRef>
          </c:tx>
          <c:spPr>
            <a:solidFill>
              <a:srgbClr val="7B8A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CABECERA NORTE</c:v>
                  </c:pt>
                  <c:pt idx="4">
                    <c:v>RAMPA ORIENTE</c:v>
                  </c:pt>
                  <c:pt idx="5">
                    <c:v>PLATEA PLUS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3647020</c:v>
                </c:pt>
                <c:pt idx="1">
                  <c:v>2582540</c:v>
                </c:pt>
                <c:pt idx="2">
                  <c:v>2243145</c:v>
                </c:pt>
                <c:pt idx="3">
                  <c:v>210100</c:v>
                </c:pt>
                <c:pt idx="4">
                  <c:v>174695</c:v>
                </c:pt>
                <c:pt idx="5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AP25 + CL26</c:v>
                </c:pt>
              </c:strCache>
            </c:strRef>
          </c:tx>
          <c:spPr>
            <a:solidFill>
              <a:srgbClr val="00C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CABECERA SUR</c:v>
                  </c:pt>
                  <c:pt idx="1">
                    <c:v>PLATEA ORIENTE</c:v>
                  </c:pt>
                  <c:pt idx="2">
                    <c:v>PLATEA PONIENTE</c:v>
                  </c:pt>
                  <c:pt idx="3">
                    <c:v>CABECERA NORTE</c:v>
                  </c:pt>
                  <c:pt idx="4">
                    <c:v>RAMPA ORIENTE</c:v>
                  </c:pt>
                  <c:pt idx="5">
                    <c:v>PLATEA PLUS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3289570</c:v>
                </c:pt>
                <c:pt idx="1">
                  <c:v>2493075</c:v>
                </c:pt>
                <c:pt idx="2">
                  <c:v>1733250</c:v>
                </c:pt>
                <c:pt idx="3">
                  <c:v>134865</c:v>
                </c:pt>
                <c:pt idx="4">
                  <c:v/>
                </c:pt>
                <c:pt idx="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CF1F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3E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AA5B0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0B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00C677">
              <a:alpha val="20000"/>
            </a:srgbClr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 EJECUTIVO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Abonos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 Puebla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temporadas comparadas  ·  AP23-CL24  ·  AP24-CL25  ·  AP25-CL26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más relevante de los últimos 3 torneos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VENDIDO (3 TORNEOS)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3794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$27.1M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25054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Suma del SUBTOTAL pagado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ABONOS EMITIDOS TOTALES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183794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20,669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55080" y="25054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14,464 pagados  ·  6,205 cortesías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AP23 + CL24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6667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$10.55M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77240" y="4334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7,949 abonos  ·  28.7% cortesías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32004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AP24 + CL25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36667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$8.86M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0" y="4334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6,407 abonos  ·  16.7% cortesías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32004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AP25 + CL26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36667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$7.65M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366760" y="4334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6,313 abonos  ·  45.2% cortesías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Cortesías = órdenes con SUBTOTAL=0 (explícitas + descuentos 100%). Palcos y Plateas AP25-CL26 quedan fuera del comparativo.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 por torneo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Cuánto se vendió y cuántos abonos se emitieron en cada temporada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371600"/>
                <a:gridCol w="1371600"/>
                <a:gridCol w="1554480"/>
                <a:gridCol w="128016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TORNEO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ABONOS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PAGADOS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% CORT.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TICKET PROM.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AP23 + CL24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$10.55M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7,949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5,669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2,280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28.7%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$1,861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AP24 + CL25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$8.86M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6,407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5,335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1,072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16.7%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$1,660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AP25 + CL26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$7.65M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6,313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3,460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2,853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45.2%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$2,211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61D24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EJECUTIVA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Volumen cayó -20.6% (7,949 → 6,313) </a:t>
            </a:r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revenue cayó -27.5% ($10.55M → $7.65M) </a:t>
            </a:r>
            <a:pPr indent="0" marL="0">
              <a:buNone/>
            </a:pPr>
            <a:r>
              <a:rPr lang="en-US" sz="13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AP23-CL24 y AP25-CL26. 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promedio subió a $2,211 (+18.8%) </a:t>
            </a:r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las cortesías ya representan 45.2% del volumen del último torneo</a:t>
            </a:r>
            <a:pPr indent="0" marL="0">
              <a:buNone/>
            </a:pPr>
            <a:r>
              <a:rPr lang="en-US" sz="13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 club está vendiendo menos pero a precio mayor; el reto es recuperar volumen pagado.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por torneo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Pesos vendidos en cada temporada — suma del SUBTOTAL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Abonos emitidos por torneo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Anuales pagados · Semestrales pagados · Cortesías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Emisión por semestre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Anual · Semestral · Cortesía — % del volumen de cada semestre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82296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961120" y="1280160"/>
            <a:ext cx="2651760" cy="5029200"/>
          </a:xfrm>
          <a:prstGeom prst="roundRect">
            <a:avLst>
              <a:gd name="adj" fmla="val 2759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0" y="14447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Cantidad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SEMESTRE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0" y="2167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2167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4,032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0" y="25511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CL24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2551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0" y="2935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2935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3,181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3319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CL25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3319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3,226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5,570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4087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0" y="40873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E3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5897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Cortesía = SUBTOTAL=0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por tipo de abono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entre torneos — cuánto se vendió de cada tipo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zonas — volumen por torneo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comportó cada zona en cada temporada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zonas — revenue por torneo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Cuánto vendió cada zona en cada temporada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Renovación temporada a temporada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canal Online — abonados identificados por correo electrónico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371600"/>
                <a:gridCol w="182880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TRANSICIÓN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BASE PREVIA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RENOVARON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TASA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NUEVOS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PERDIDOS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AP23-CL24  →  AP24-CL25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978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24.3%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+296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5C6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−740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AP24-CL25  →  AP25-CL26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AA5B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17.2%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+109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5C6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−442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61D2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 — RETENCIÓN ONLINE EN BAJA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4160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tasa de renovación cayó de 24.3% a 17.2% entre torneos.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último ciclo perdimos 442 abonados online que sí compraron el ciclo previo.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Recomendación: contactar directamente a esos 442 antes del próximo Apertura con beneficio personalizado. Costo bajo, retorno medible.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calculada solo con abonados que compraron por canal Online (Frame, IOS, Android). Compras en Taquilla quedan fuera porque históricamente no se trackeaban contra correo.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Ocupación de aforo del estadio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llenó el estadio en cada torneo · pagados + cortesías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AP23-CL24 — OCUPACIÓN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379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2505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29,484 de 41,065 cubiertos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AP24-CL25 — OCUPACIÓN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53712" y="18379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53712" y="2505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13,688 de 31,085 cubiertos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371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AP25-CL26 — OCUPACIÓN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0184" y="18379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30184" y="2505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15,417 de 31,085 cubiertos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554480"/>
                <a:gridCol w="1463040"/>
                <a:gridCol w="13716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TORNEO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AFORO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PAGADOS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CUBIERTO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LIBRE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A7682"/>
                          </a:solidFill>
                        </a:rPr>
                        <a:t>OCUPACIÓN</a:t>
                      </a:r>
                      <a:endParaRPr lang="en-US" sz="10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AP23-CL24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41,065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28,349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1,135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29,484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11,581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71.8%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AP24-CL25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31,085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12,643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1,045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13,688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17,397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AP25-CL26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31,085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13,267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2,150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15,417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15,668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49.6%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Aforo y ventas por zona vienen de los reportes de disponibilidad. Pagados + Cortesías = total cubierto. Espacio libre = aforo NO vendido (oportunidad).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Desglose por zona · AP25-CL26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Pagados + cortesías + espacio libre por zona del torneo más reciente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633472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371600"/>
                <a:gridCol w="1280160"/>
                <a:gridCol w="118872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ZONA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AFORO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PAGADOS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CUBIERTO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LIBRE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OCUPACIÓN</a:t>
                      </a:r>
                      <a:endParaRPr lang="en-US" sz="9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CABECERA SUR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7,376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6,087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6,097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1,279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82.7%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CABECERA NORTE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6,139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5,714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5C6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6.9%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PLATEA PONIENTE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5,915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4,036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4,543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1,372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76.8%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PLATEA ORIENTE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5,506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2,979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3,047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2,459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55.3%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RAMPA ORIENTE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4,291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4,231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5C6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1.4%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PLATEA PLUS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1,858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1,245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1,245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A76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613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67%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31,085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13,267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2,150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15,417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15,668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49.6%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Torneo AP23 + CL24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por categoría · revenue, volumen y ticket promedio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 torneo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ABONOS EMITIDOS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48456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7,949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48456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91072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PROMEDIO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9672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$1,861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19672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Excluye cortesías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62288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CORTESÍAS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90888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2,280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90888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28.7% del volumen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219456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CATEGORÍA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ABONOS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TICKET PROM.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Franjabono regular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2,782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$5.67M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$2,040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Cortesía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2,280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2,280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Renovación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1,959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$3.33M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$1,698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Ex-abonado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673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$1.08M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$1,603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Nuevo abonado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$467K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$1,833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Torneo AP24 + CL25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por categoría · revenue, volumen y ticket promedio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$8.86M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-16% vs torneo previo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ABONOS EMITIDOS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48456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6,407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48456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-19.4% vs torneo previo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91072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PROMEDIO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9672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$1,660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19672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Excluye cortesías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62288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CORTESÍAS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90888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1,072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90888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16.7% del volumen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219456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CATEGORÍA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ABONOS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TICKET PROM.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Franjabono regular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5,335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$8.86M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$1,660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Cortesía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1,072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1,072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BOLETOMÓVIL  ·  CLUB PUEBLA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Torneo AP25 + CL26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por categoría · revenue, volumen y ticket promedio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00C677"/>
          </a:solidFill>
          <a:ln w="12700">
            <a:solidFill>
              <a:srgbClr val="00C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$7.65M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-13.6% vs torneo previo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ABONOS EMITIDOS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48456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6,313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48456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-1.5% vs torneo previo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91072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PROMEDIO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9672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$2,211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19672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Excluye cortesías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62288" y="1371600"/>
            <a:ext cx="2706624" cy="1463040"/>
          </a:xfrm>
          <a:prstGeom prst="roundRect">
            <a:avLst>
              <a:gd name="adj" fmla="val 6250"/>
            </a:avLst>
          </a:prstGeom>
          <a:solidFill>
            <a:srgbClr val="161D24"/>
          </a:solidFill>
          <a:ln w="12700">
            <a:solidFill>
              <a:srgbClr val="2A3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536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7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CORTESÍAS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90888" y="1837944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2,853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90888" y="241401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45.2% del volumen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219456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CATEGORÍA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ABONOS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CORTESÍAS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682"/>
                          </a:solidFill>
                        </a:rPr>
                        <a:t>TICKET PROM.</a:t>
                      </a:r>
                      <a:endParaRPr lang="en-US" sz="9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Cortesía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2,852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2,852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Franjabono regular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2,760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$7.29M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$2,643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$207K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$369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Socio Puebla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$103K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$999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Universitarios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$32K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$999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Referidos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E39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$16K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CF1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$2,680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Boletomóvil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Abonos — Club Puebla</dc:title>
  <dc:subject>PptxGenJS Presentation</dc:subject>
  <dc:creator>Boletomóvil</dc:creator>
  <cp:lastModifiedBy>Boletomóvil</cp:lastModifiedBy>
  <cp:revision>1</cp:revision>
  <dcterms:created xsi:type="dcterms:W3CDTF">2026-04-29T16:52:18Z</dcterms:created>
  <dcterms:modified xsi:type="dcterms:W3CDTF">2026-04-29T16:52:18Z</dcterms:modified>
</cp:coreProperties>
</file>